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6" r:id="rId4"/>
    <p:sldId id="258" r:id="rId5"/>
    <p:sldId id="260" r:id="rId6"/>
    <p:sldId id="261" r:id="rId7"/>
    <p:sldId id="271" r:id="rId8"/>
    <p:sldId id="262" r:id="rId9"/>
    <p:sldId id="272" r:id="rId10"/>
    <p:sldId id="263" r:id="rId11"/>
    <p:sldId id="264" r:id="rId12"/>
    <p:sldId id="265" r:id="rId13"/>
    <p:sldId id="266" r:id="rId14"/>
    <p:sldId id="268" r:id="rId15"/>
    <p:sldId id="267"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29" autoAdjust="0"/>
    <p:restoredTop sz="94688" autoAdjust="0"/>
  </p:normalViewPr>
  <p:slideViewPr>
    <p:cSldViewPr snapToGrid="0">
      <p:cViewPr varScale="1">
        <p:scale>
          <a:sx n="150" d="100"/>
          <a:sy n="150" d="100"/>
        </p:scale>
        <p:origin x="960" y="1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735F-EBED-26AF-299E-15FFCE6555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449D1F-166C-ED2A-96BF-6A91683964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7EE23D-6D0E-3913-2127-2DF3A0528D33}"/>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210A062C-827E-F9AB-25F6-D26910E80E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36AD6-3997-C8E6-F963-3DE8944B47E4}"/>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3223493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1C0B-A95B-C811-74ED-57DCB9367C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298F34-96C1-17D7-F8B4-DB660CD8E0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6DC46-B279-34D9-4000-F33F0F62FE4A}"/>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8EE38255-4A43-5C87-DD27-792C56804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CDC03-FAB9-BB84-F800-BC237DE4433D}"/>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3791570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3E8A4-D7F4-E03A-612B-17F7AB0C64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CCB45B-4791-671C-938B-E8C015416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DC446E-4657-2928-4F2A-34A412BAD94B}"/>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1838FD91-4F22-9C01-8E10-5EF5A2C2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1D9AA-1FF6-1382-AF42-A16DA24274C2}"/>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1649650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A76CF-A0C5-B964-C711-FB947E9E86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7513DD-9B3E-89B1-6DBA-D5347C8387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A6BB0C-74C8-6B63-0463-83B76F5DBD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E632E2-EB3E-E74D-08D3-B83840CF3A1B}"/>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6" name="Footer Placeholder 5">
            <a:extLst>
              <a:ext uri="{FF2B5EF4-FFF2-40B4-BE49-F238E27FC236}">
                <a16:creationId xmlns:a16="http://schemas.microsoft.com/office/drawing/2014/main" id="{90C07135-9F22-E13C-5A7E-913EB953D1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2F9D53-D0B6-1B9A-DFEE-81C5195FE1E8}"/>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126055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1CC7-49F5-C365-7227-37EFA7F681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075977-73B9-86E3-4A9D-8774AD183F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7F500E-06D9-AA88-1888-0B477BB19A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A69DC6-1988-4791-617A-D67A0A7D79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7C3791-FED7-E877-4424-3EB04D00E4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9032D7-EC2D-A5F6-AC96-45039F6893E9}"/>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8" name="Footer Placeholder 7">
            <a:extLst>
              <a:ext uri="{FF2B5EF4-FFF2-40B4-BE49-F238E27FC236}">
                <a16:creationId xmlns:a16="http://schemas.microsoft.com/office/drawing/2014/main" id="{83A74C30-0978-5A57-02BF-F989AE36EE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C25E83-3EC8-AD68-6819-E5223758E478}"/>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3175563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1A94A-0FC0-978C-ECDD-0347D49862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EA5D48-71E8-D195-A285-40FB7B8D5057}"/>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4" name="Footer Placeholder 3">
            <a:extLst>
              <a:ext uri="{FF2B5EF4-FFF2-40B4-BE49-F238E27FC236}">
                <a16:creationId xmlns:a16="http://schemas.microsoft.com/office/drawing/2014/main" id="{3E1D2DDD-0CD3-E223-7034-5EFFBA12B0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0C410A-3E70-7B2B-5F0C-745D08BC7F3C}"/>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35961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0A9349-5355-239F-D096-9CECD9E936E2}"/>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3" name="Footer Placeholder 2">
            <a:extLst>
              <a:ext uri="{FF2B5EF4-FFF2-40B4-BE49-F238E27FC236}">
                <a16:creationId xmlns:a16="http://schemas.microsoft.com/office/drawing/2014/main" id="{BA91D187-2EC0-8600-C5BB-CBD8E525FC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12E839-32BD-8C35-821E-56A8F0835FE4}"/>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311880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0A16-6871-8539-650D-245DE46A99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B90AA4-9523-B017-323A-59E9262DDE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187455-83A2-7B2C-9BDB-6C4596D3F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4CBF2-5A83-12E3-6EC7-FDCE6DC8E151}"/>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6" name="Footer Placeholder 5">
            <a:extLst>
              <a:ext uri="{FF2B5EF4-FFF2-40B4-BE49-F238E27FC236}">
                <a16:creationId xmlns:a16="http://schemas.microsoft.com/office/drawing/2014/main" id="{B850C1AD-C233-C252-9C33-3FC987B209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91BD9B-07EB-FA01-09E2-B8FB4E917BE6}"/>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4168574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20C1C-3B6C-A768-E090-C2205647C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2EE9B0-79C4-072D-93D0-E04653615B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69E509-3B11-5D9C-82A2-A8E0806ED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94499F-013D-F402-1354-44656CAD42F1}"/>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6" name="Footer Placeholder 5">
            <a:extLst>
              <a:ext uri="{FF2B5EF4-FFF2-40B4-BE49-F238E27FC236}">
                <a16:creationId xmlns:a16="http://schemas.microsoft.com/office/drawing/2014/main" id="{4C8C40E8-A559-F5D1-EA30-D5899C8B0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13892-6DAE-DA0D-DB5D-ACF251D99483}"/>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41126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C996-DF55-A055-2924-8C1369CBA4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80637A-0705-9C58-C89C-EEB35B51FA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0C831B-FE0A-8534-F038-EDA957C75CDB}"/>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AF41FB8B-0B6B-6276-3318-81B206A6C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9B72C-8628-BDA8-E4EC-A0F746C04BF2}"/>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1578769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E14975-AF1B-9ADA-7FC6-2230E7EB8D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70421-4028-6C06-7A09-047509F4A6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D9E0A-8FBB-60BD-1C1D-606F583D17EA}"/>
              </a:ext>
            </a:extLst>
          </p:cNvPr>
          <p:cNvSpPr>
            <a:spLocks noGrp="1"/>
          </p:cNvSpPr>
          <p:nvPr>
            <p:ph type="dt" sz="half" idx="10"/>
          </p:nvPr>
        </p:nvSpPr>
        <p:spPr/>
        <p:txBody>
          <a:body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E7D0B6F6-09CF-13CC-E37E-5380393901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898F1-C291-A994-BE53-247B789CAC7D}"/>
              </a:ext>
            </a:extLst>
          </p:cNvPr>
          <p:cNvSpPr>
            <a:spLocks noGrp="1"/>
          </p:cNvSpPr>
          <p:nvPr>
            <p:ph type="sldNum" sz="quarter" idx="12"/>
          </p:nvPr>
        </p:nvSpPr>
        <p:spPr/>
        <p:txBody>
          <a:bodyPr/>
          <a:lstStyle/>
          <a:p>
            <a:fld id="{A9E0BC8E-1067-4DE1-BF88-118444053157}" type="slidenum">
              <a:rPr lang="en-US" smtClean="0"/>
              <a:t>‹#›</a:t>
            </a:fld>
            <a:endParaRPr lang="en-US"/>
          </a:p>
        </p:txBody>
      </p:sp>
    </p:spTree>
    <p:extLst>
      <p:ext uri="{BB962C8B-B14F-4D97-AF65-F5344CB8AC3E}">
        <p14:creationId xmlns:p14="http://schemas.microsoft.com/office/powerpoint/2010/main" val="2262117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EB72B9-6474-CB9D-70EA-A5BC0553F0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D8C8A0-5F74-0A50-02ED-5CD8A7607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74C42F-DFF3-D0A1-B951-2F2BE54C20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5DDC2D-2857-4B68-ABC8-B8A6EB9C5792}" type="datetimeFigureOut">
              <a:rPr lang="en-US" smtClean="0"/>
              <a:t>1/1/2026</a:t>
            </a:fld>
            <a:endParaRPr lang="en-US"/>
          </a:p>
        </p:txBody>
      </p:sp>
      <p:sp>
        <p:nvSpPr>
          <p:cNvPr id="5" name="Footer Placeholder 4">
            <a:extLst>
              <a:ext uri="{FF2B5EF4-FFF2-40B4-BE49-F238E27FC236}">
                <a16:creationId xmlns:a16="http://schemas.microsoft.com/office/drawing/2014/main" id="{3A4E6E1B-CB1D-7CA1-164B-A96E653BC7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19A7C80-D098-7126-A12A-5CBCB58AD6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E0BC8E-1067-4DE1-BF88-118444053157}" type="slidenum">
              <a:rPr lang="en-US" smtClean="0"/>
              <a:t>‹#›</a:t>
            </a:fld>
            <a:endParaRPr lang="en-US"/>
          </a:p>
        </p:txBody>
      </p:sp>
    </p:spTree>
    <p:extLst>
      <p:ext uri="{BB962C8B-B14F-4D97-AF65-F5344CB8AC3E}">
        <p14:creationId xmlns:p14="http://schemas.microsoft.com/office/powerpoint/2010/main" val="248105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6.xml"/><Relationship Id="rId3" Type="http://schemas.openxmlformats.org/officeDocument/2006/relationships/slide" Target="slide4.xml"/><Relationship Id="rId7" Type="http://schemas.openxmlformats.org/officeDocument/2006/relationships/slide" Target="slide10.xml"/><Relationship Id="rId12" Type="http://schemas.openxmlformats.org/officeDocument/2006/relationships/slide" Target="slide15.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4.xml"/><Relationship Id="rId5" Type="http://schemas.openxmlformats.org/officeDocument/2006/relationships/slide" Target="slide6.xml"/><Relationship Id="rId10" Type="http://schemas.openxmlformats.org/officeDocument/2006/relationships/slide" Target="slide13.xml"/><Relationship Id="rId4" Type="http://schemas.openxmlformats.org/officeDocument/2006/relationships/slide" Target="slide5.xml"/><Relationship Id="rId9" Type="http://schemas.openxmlformats.org/officeDocument/2006/relationships/slide" Target="slide12.xml"/><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ECCD-2650-83C1-89FC-66843B27995F}"/>
              </a:ext>
            </a:extLst>
          </p:cNvPr>
          <p:cNvSpPr>
            <a:spLocks noGrp="1"/>
          </p:cNvSpPr>
          <p:nvPr>
            <p:ph type="ctrTitle"/>
          </p:nvPr>
        </p:nvSpPr>
        <p:spPr>
          <a:xfrm>
            <a:off x="1524000" y="576263"/>
            <a:ext cx="9144000" cy="2387600"/>
          </a:xfrm>
        </p:spPr>
        <p:txBody>
          <a:bodyPr/>
          <a:lstStyle/>
          <a:p>
            <a:r>
              <a:rPr lang="en-US" sz="5400" dirty="0"/>
              <a:t>DSA 210 Term Project</a:t>
            </a:r>
            <a:br>
              <a:rPr lang="en-US" dirty="0"/>
            </a:br>
            <a:r>
              <a:rPr lang="en-US" sz="2000" dirty="0"/>
              <a:t>World Bank Development Index &amp; Happiness</a:t>
            </a:r>
            <a:endParaRPr lang="en-US" dirty="0"/>
          </a:p>
        </p:txBody>
      </p:sp>
      <p:sp>
        <p:nvSpPr>
          <p:cNvPr id="3" name="Subtitle 2">
            <a:extLst>
              <a:ext uri="{FF2B5EF4-FFF2-40B4-BE49-F238E27FC236}">
                <a16:creationId xmlns:a16="http://schemas.microsoft.com/office/drawing/2014/main" id="{17CA04C8-EBB6-3AC3-9343-3A925B2B48E8}"/>
              </a:ext>
            </a:extLst>
          </p:cNvPr>
          <p:cNvSpPr>
            <a:spLocks noGrp="1"/>
          </p:cNvSpPr>
          <p:nvPr>
            <p:ph type="subTitle" idx="1"/>
          </p:nvPr>
        </p:nvSpPr>
        <p:spPr>
          <a:xfrm>
            <a:off x="1524000" y="3271838"/>
            <a:ext cx="9144000" cy="1655762"/>
          </a:xfrm>
        </p:spPr>
        <p:txBody>
          <a:bodyPr>
            <a:normAutofit/>
          </a:bodyPr>
          <a:lstStyle/>
          <a:p>
            <a:endParaRPr lang="en-US" sz="1200" dirty="0"/>
          </a:p>
          <a:p>
            <a:r>
              <a:rPr lang="en-US" sz="1200" dirty="0"/>
              <a:t>Name: Utku Genc</a:t>
            </a:r>
          </a:p>
          <a:p>
            <a:r>
              <a:rPr lang="en-US" sz="1200" dirty="0" err="1"/>
              <a:t>SuID</a:t>
            </a:r>
            <a:r>
              <a:rPr lang="en-US" sz="1200" dirty="0"/>
              <a:t>: 30611</a:t>
            </a:r>
          </a:p>
        </p:txBody>
      </p:sp>
    </p:spTree>
    <p:extLst>
      <p:ext uri="{BB962C8B-B14F-4D97-AF65-F5344CB8AC3E}">
        <p14:creationId xmlns:p14="http://schemas.microsoft.com/office/powerpoint/2010/main" val="4041323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07189-4F14-497A-0051-1052F0BC1545}"/>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B462D0D-AED7-9AAA-C9CE-A2913238DDE4}"/>
              </a:ext>
            </a:extLst>
          </p:cNvPr>
          <p:cNvSpPr>
            <a:spLocks noGrp="1"/>
          </p:cNvSpPr>
          <p:nvPr>
            <p:ph idx="1"/>
          </p:nvPr>
        </p:nvSpPr>
        <p:spPr/>
        <p:txBody>
          <a:bodyPr>
            <a:normAutofit fontScale="62500" lnSpcReduction="20000"/>
          </a:bodyPr>
          <a:lstStyle/>
          <a:p>
            <a:pPr marL="514350" indent="-514350">
              <a:buFont typeface="+mj-lt"/>
              <a:buAutoNum type="arabicPeriod" startAt="3"/>
            </a:pPr>
            <a:r>
              <a:rPr lang="en-US" dirty="0">
                <a:hlinkClick r:id="rId2" action="ppaction://hlinksldjump"/>
              </a:rPr>
              <a:t>Introduction</a:t>
            </a:r>
            <a:endParaRPr lang="en-US" dirty="0"/>
          </a:p>
          <a:p>
            <a:pPr marL="514350" indent="-514350">
              <a:buFont typeface="+mj-lt"/>
              <a:buAutoNum type="arabicPeriod" startAt="3"/>
            </a:pPr>
            <a:r>
              <a:rPr lang="en-US" dirty="0">
                <a:hlinkClick r:id="rId3" action="ppaction://hlinksldjump"/>
              </a:rPr>
              <a:t>Data We Use</a:t>
            </a:r>
            <a:endParaRPr lang="en-US" dirty="0"/>
          </a:p>
          <a:p>
            <a:pPr marL="514350" indent="-514350">
              <a:buFont typeface="+mj-lt"/>
              <a:buAutoNum type="arabicPeriod" startAt="3"/>
            </a:pPr>
            <a:r>
              <a:rPr lang="en-US" dirty="0">
                <a:hlinkClick r:id="rId4" action="ppaction://hlinksldjump"/>
              </a:rPr>
              <a:t>Global Trends</a:t>
            </a:r>
            <a:endParaRPr lang="en-US" dirty="0"/>
          </a:p>
          <a:p>
            <a:pPr marL="514350" indent="-514350">
              <a:buFont typeface="+mj-lt"/>
              <a:buAutoNum type="arabicPeriod" startAt="3"/>
            </a:pPr>
            <a:r>
              <a:rPr lang="en-US" dirty="0">
                <a:hlinkClick r:id="rId5" action="ppaction://hlinksldjump"/>
              </a:rPr>
              <a:t>Top 30: When The Basic Needs Are Met</a:t>
            </a:r>
            <a:endParaRPr lang="en-US" dirty="0"/>
          </a:p>
          <a:p>
            <a:pPr marL="514350" indent="-514350">
              <a:buFont typeface="+mj-lt"/>
              <a:buAutoNum type="arabicPeriod" startAt="8"/>
            </a:pPr>
            <a:r>
              <a:rPr lang="en-US" dirty="0">
                <a:hlinkClick r:id="rId6" action="ppaction://hlinksldjump"/>
              </a:rPr>
              <a:t>The Bottom 30: A noisy Picture</a:t>
            </a:r>
            <a:endParaRPr lang="en-US" dirty="0"/>
          </a:p>
          <a:p>
            <a:pPr marL="514350" indent="-514350">
              <a:buFont typeface="+mj-lt"/>
              <a:buAutoNum type="arabicPeriod" startAt="10"/>
            </a:pPr>
            <a:r>
              <a:rPr lang="en-US" dirty="0">
                <a:hlinkClick r:id="rId7" action="ppaction://hlinksldjump"/>
              </a:rPr>
              <a:t>Interesting Anomalies</a:t>
            </a:r>
            <a:endParaRPr lang="en-US" dirty="0"/>
          </a:p>
          <a:p>
            <a:pPr marL="514350" indent="-514350">
              <a:buFont typeface="+mj-lt"/>
              <a:buAutoNum type="arabicPeriod" startAt="10"/>
            </a:pPr>
            <a:r>
              <a:rPr lang="en-US" dirty="0">
                <a:hlinkClick r:id="rId8" action="ppaction://hlinksldjump"/>
              </a:rPr>
              <a:t>Hypothesis</a:t>
            </a:r>
            <a:endParaRPr lang="en-US" dirty="0"/>
          </a:p>
          <a:p>
            <a:pPr marL="514350" indent="-514350">
              <a:buFont typeface="+mj-lt"/>
              <a:buAutoNum type="arabicPeriod" startAt="10"/>
            </a:pPr>
            <a:r>
              <a:rPr lang="en-US" dirty="0">
                <a:hlinkClick r:id="rId9" action="ppaction://hlinksldjump"/>
              </a:rPr>
              <a:t>Two ML Method Application</a:t>
            </a:r>
            <a:endParaRPr lang="en-US" dirty="0"/>
          </a:p>
          <a:p>
            <a:pPr marL="514350" indent="-514350">
              <a:buFont typeface="+mj-lt"/>
              <a:buAutoNum type="arabicPeriod" startAt="10"/>
            </a:pPr>
            <a:r>
              <a:rPr lang="en-US" dirty="0">
                <a:hlinkClick r:id="rId10" action="ppaction://hlinksldjump"/>
              </a:rPr>
              <a:t>Linear Regression</a:t>
            </a:r>
            <a:endParaRPr lang="en-US" dirty="0"/>
          </a:p>
          <a:p>
            <a:pPr marL="514350" indent="-514350">
              <a:buFont typeface="+mj-lt"/>
              <a:buAutoNum type="arabicPeriod" startAt="10"/>
            </a:pPr>
            <a:r>
              <a:rPr lang="en-US" dirty="0">
                <a:hlinkClick r:id="rId11" action="ppaction://hlinksldjump"/>
              </a:rPr>
              <a:t>Random forest</a:t>
            </a:r>
            <a:endParaRPr lang="en-US" dirty="0"/>
          </a:p>
          <a:p>
            <a:pPr marL="514350" indent="-514350">
              <a:buFont typeface="+mj-lt"/>
              <a:buAutoNum type="arabicPeriod" startAt="10"/>
            </a:pPr>
            <a:r>
              <a:rPr lang="en-US" dirty="0">
                <a:hlinkClick r:id="rId12" action="ppaction://hlinksldjump"/>
              </a:rPr>
              <a:t>Results</a:t>
            </a:r>
            <a:endParaRPr lang="en-US" dirty="0"/>
          </a:p>
          <a:p>
            <a:pPr marL="514350" indent="-514350">
              <a:buFont typeface="+mj-lt"/>
              <a:buAutoNum type="arabicPeriod" startAt="10"/>
            </a:pPr>
            <a:r>
              <a:rPr lang="en-US" dirty="0">
                <a:hlinkClick r:id="rId13" action="ppaction://hlinksldjump"/>
              </a:rPr>
              <a:t>Using Linear Regression And Random Forest Predictions on Hypothetical Countr</a:t>
            </a:r>
            <a:r>
              <a:rPr lang="en-US" dirty="0"/>
              <a:t>y</a:t>
            </a:r>
          </a:p>
          <a:p>
            <a:pPr marL="514350" indent="-514350">
              <a:buFont typeface="+mj-lt"/>
              <a:buAutoNum type="arabicPeriod" startAt="10"/>
            </a:pPr>
            <a:r>
              <a:rPr lang="en-US" dirty="0">
                <a:hlinkClick r:id="rId14" action="ppaction://hlinksldjump"/>
              </a:rPr>
              <a:t>Conclusion</a:t>
            </a:r>
            <a:endParaRPr lang="en-US" dirty="0"/>
          </a:p>
        </p:txBody>
      </p:sp>
    </p:spTree>
    <p:extLst>
      <p:ext uri="{BB962C8B-B14F-4D97-AF65-F5344CB8AC3E}">
        <p14:creationId xmlns:p14="http://schemas.microsoft.com/office/powerpoint/2010/main" val="314825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7ACF61-7493-EE33-004B-C40AA7A2F6B2}"/>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C5114317-4E19-E866-69FB-546BE32F7AD9}"/>
              </a:ext>
            </a:extLst>
          </p:cNvPr>
          <p:cNvSpPr>
            <a:spLocks noGrp="1"/>
          </p:cNvSpPr>
          <p:nvPr>
            <p:ph idx="1"/>
          </p:nvPr>
        </p:nvSpPr>
        <p:spPr/>
        <p:txBody>
          <a:bodyPr>
            <a:normAutofit/>
          </a:bodyPr>
          <a:lstStyle/>
          <a:p>
            <a:pPr marL="0" indent="0">
              <a:buNone/>
            </a:pPr>
            <a:r>
              <a:rPr lang="en-US" sz="1400" dirty="0"/>
              <a:t>The World Happiness Report gives a “life evaluation” (happiness) score for many countries each year, based on survey answers. It also reports a few main drivers (like income, health, freedom, and trust). However, two problems remain: </a:t>
            </a:r>
          </a:p>
          <a:p>
            <a:r>
              <a:rPr lang="en-US" sz="1400" dirty="0"/>
              <a:t>We do not clearly see how much each factor matters compared to the others</a:t>
            </a:r>
          </a:p>
          <a:p>
            <a:r>
              <a:rPr lang="en-US" sz="1400" dirty="0"/>
              <a:t>There may be other important drivers that are not included in the report’s main set.</a:t>
            </a:r>
          </a:p>
          <a:p>
            <a:pPr marL="0" indent="0">
              <a:buNone/>
            </a:pPr>
            <a:r>
              <a:rPr lang="en-US" sz="1400" dirty="0"/>
              <a:t>This project studies happiness from two angles. First, it measures how strongly different indicators move together with happiness across countries (using Pearson and Spearman correlations). Second, it checks whether these relationships change when we compare very happy countries (Top 30) versus the least happy countries (Bottom 30). This matters because “basic needs” may dominate in poorer settings, while “higher-level” social and political factors may matter more once a country is already developed.</a:t>
            </a:r>
          </a:p>
          <a:p>
            <a:pPr marL="0" indent="0">
              <a:buNone/>
            </a:pPr>
            <a:r>
              <a:rPr lang="en-US" sz="1400" dirty="0"/>
              <a:t>Finally, two machine learning models are applied, Linear Regression and Random Forest, to test how well we can predict happiness from many indicators at once, and to identify which variables the models use most.</a:t>
            </a:r>
          </a:p>
        </p:txBody>
      </p:sp>
    </p:spTree>
    <p:extLst>
      <p:ext uri="{BB962C8B-B14F-4D97-AF65-F5344CB8AC3E}">
        <p14:creationId xmlns:p14="http://schemas.microsoft.com/office/powerpoint/2010/main" val="19044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8420A-3BA4-DFA5-242F-AB6C1041B4C1}"/>
              </a:ext>
            </a:extLst>
          </p:cNvPr>
          <p:cNvSpPr>
            <a:spLocks noGrp="1"/>
          </p:cNvSpPr>
          <p:nvPr>
            <p:ph type="title"/>
          </p:nvPr>
        </p:nvSpPr>
        <p:spPr/>
        <p:txBody>
          <a:bodyPr/>
          <a:lstStyle/>
          <a:p>
            <a:r>
              <a:rPr lang="en-US" dirty="0"/>
              <a:t>Data We Use</a:t>
            </a:r>
          </a:p>
        </p:txBody>
      </p:sp>
      <p:sp>
        <p:nvSpPr>
          <p:cNvPr id="3" name="Content Placeholder 2">
            <a:extLst>
              <a:ext uri="{FF2B5EF4-FFF2-40B4-BE49-F238E27FC236}">
                <a16:creationId xmlns:a16="http://schemas.microsoft.com/office/drawing/2014/main" id="{6C5A9D82-01C3-9C5E-E2B6-A7C469DB143C}"/>
              </a:ext>
            </a:extLst>
          </p:cNvPr>
          <p:cNvSpPr>
            <a:spLocks noGrp="1"/>
          </p:cNvSpPr>
          <p:nvPr>
            <p:ph idx="1"/>
          </p:nvPr>
        </p:nvSpPr>
        <p:spPr/>
        <p:txBody>
          <a:bodyPr>
            <a:normAutofit/>
          </a:bodyPr>
          <a:lstStyle/>
          <a:p>
            <a:pPr marL="0" indent="0">
              <a:buNone/>
            </a:pPr>
            <a:r>
              <a:rPr lang="en-US" sz="1400" dirty="0"/>
              <a:t>This study combines two datasets:</a:t>
            </a:r>
          </a:p>
          <a:p>
            <a:r>
              <a:rPr lang="en-US" sz="1400" dirty="0"/>
              <a:t>World Happiness Report (</a:t>
            </a:r>
            <a:r>
              <a:rPr lang="en-US" sz="1400" dirty="0" err="1"/>
              <a:t>WHR</a:t>
            </a:r>
            <a:r>
              <a:rPr lang="en-US" sz="1400" dirty="0"/>
              <a:t>) data: The </a:t>
            </a:r>
            <a:r>
              <a:rPr lang="en-US" sz="1400" dirty="0" err="1"/>
              <a:t>WHR</a:t>
            </a:r>
            <a:r>
              <a:rPr lang="en-US" sz="1400" dirty="0"/>
              <a:t> provides country level happiness measures based on the Gallup World Poll. The key target variable in analysis is the average life evaluation score (“</a:t>
            </a:r>
            <a:r>
              <a:rPr lang="en-US" sz="1400" dirty="0" err="1"/>
              <a:t>Life_Evaluation_Avg</a:t>
            </a:r>
            <a:r>
              <a:rPr lang="en-US" sz="1400" dirty="0"/>
              <a:t>”). The </a:t>
            </a:r>
            <a:r>
              <a:rPr lang="en-US" sz="1400" dirty="0" err="1"/>
              <a:t>WHR</a:t>
            </a:r>
            <a:r>
              <a:rPr lang="en-US" sz="1400" dirty="0"/>
              <a:t> data is available through the report’s official data sharing page.</a:t>
            </a:r>
          </a:p>
          <a:p>
            <a:r>
              <a:rPr lang="en-US" sz="1400" dirty="0"/>
              <a:t>World Bank World Development Indicators (</a:t>
            </a:r>
            <a:r>
              <a:rPr lang="en-US" sz="1400" dirty="0" err="1"/>
              <a:t>WDI</a:t>
            </a:r>
            <a:r>
              <a:rPr lang="en-US" sz="1400" dirty="0"/>
              <a:t>) dataset: This dataset includes many country indicators across the economy, society, environment, and governance. Examples used in the analysis include life expectancy, internet use, access to electricity, fertility/birth rate, education spending, CO₂ emissions, government effectiveness, rule of law, and control of corruption. It is based on indicators extracted from the World Bank database and shared as a structured Kaggle dataset.</a:t>
            </a:r>
          </a:p>
          <a:p>
            <a:endParaRPr lang="en-US" sz="1400" dirty="0"/>
          </a:p>
          <a:p>
            <a:pPr marL="0" indent="0">
              <a:buNone/>
            </a:pPr>
            <a:r>
              <a:rPr lang="en-US" sz="1400" dirty="0"/>
              <a:t>After merging, focus is on numeric columns, handle missing values by filling with column averages, and compare patterns globally and within the Top 30 / Bottom 30 groups.</a:t>
            </a:r>
          </a:p>
        </p:txBody>
      </p:sp>
    </p:spTree>
    <p:extLst>
      <p:ext uri="{BB962C8B-B14F-4D97-AF65-F5344CB8AC3E}">
        <p14:creationId xmlns:p14="http://schemas.microsoft.com/office/powerpoint/2010/main" val="759094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73FAF-ECFC-BC2E-A19C-6F376D57A790}"/>
              </a:ext>
            </a:extLst>
          </p:cNvPr>
          <p:cNvSpPr>
            <a:spLocks noGrp="1"/>
          </p:cNvSpPr>
          <p:nvPr>
            <p:ph type="title"/>
          </p:nvPr>
        </p:nvSpPr>
        <p:spPr/>
        <p:txBody>
          <a:bodyPr/>
          <a:lstStyle/>
          <a:p>
            <a:r>
              <a:rPr lang="en-US" dirty="0"/>
              <a:t>Global Trends</a:t>
            </a:r>
          </a:p>
        </p:txBody>
      </p:sp>
      <p:sp>
        <p:nvSpPr>
          <p:cNvPr id="3" name="Content Placeholder 2">
            <a:extLst>
              <a:ext uri="{FF2B5EF4-FFF2-40B4-BE49-F238E27FC236}">
                <a16:creationId xmlns:a16="http://schemas.microsoft.com/office/drawing/2014/main" id="{B459E5D1-5B4C-045E-DEE8-297890C93A02}"/>
              </a:ext>
            </a:extLst>
          </p:cNvPr>
          <p:cNvSpPr>
            <a:spLocks noGrp="1"/>
          </p:cNvSpPr>
          <p:nvPr>
            <p:ph idx="1"/>
          </p:nvPr>
        </p:nvSpPr>
        <p:spPr/>
        <p:txBody>
          <a:bodyPr>
            <a:normAutofit/>
          </a:bodyPr>
          <a:lstStyle/>
          <a:p>
            <a:pPr marL="0" indent="0">
              <a:buNone/>
            </a:pPr>
            <a:r>
              <a:rPr lang="en-US" sz="1400" dirty="0"/>
              <a:t>Across all countries, the strongest story is “basic development first.” Variables linked to health, infrastructure, and human capital show the highest correlations with happiness.</a:t>
            </a:r>
          </a:p>
          <a:p>
            <a:pPr marL="0" indent="0">
              <a:buNone/>
            </a:pPr>
            <a:r>
              <a:rPr lang="en-US" sz="1400" dirty="0"/>
              <a:t>The top global relationships in the output include </a:t>
            </a:r>
            <a:r>
              <a:rPr lang="en-US" sz="1400" u="sng" dirty="0"/>
              <a:t>life expectancy </a:t>
            </a:r>
            <a:r>
              <a:rPr lang="en-US" sz="1400" dirty="0"/>
              <a:t>(Pearson = 0.82), </a:t>
            </a:r>
            <a:r>
              <a:rPr lang="en-US" sz="1400" u="sng" dirty="0"/>
              <a:t>internet use </a:t>
            </a:r>
            <a:r>
              <a:rPr lang="en-US" sz="1400" dirty="0"/>
              <a:t>(= 0.82), and the </a:t>
            </a:r>
            <a:r>
              <a:rPr lang="en-US" sz="1400" u="sng" dirty="0"/>
              <a:t>Human</a:t>
            </a:r>
            <a:r>
              <a:rPr lang="en-US" sz="1400" dirty="0"/>
              <a:t> </a:t>
            </a:r>
            <a:r>
              <a:rPr lang="en-US" sz="1400" u="sng" dirty="0"/>
              <a:t>Capital Index </a:t>
            </a:r>
            <a:r>
              <a:rPr lang="en-US" sz="1400" dirty="0"/>
              <a:t>(= 0.81). </a:t>
            </a:r>
            <a:r>
              <a:rPr lang="en-US" sz="1400" u="sng" dirty="0"/>
              <a:t>Access to electricity</a:t>
            </a:r>
            <a:r>
              <a:rPr lang="en-US" sz="1400" dirty="0"/>
              <a:t> is also very strong (Pearson = 0.72; Spearman = 0.81). Together, these suggest that when a country improves core living conditions, health, skills, and basic services, happiness rises in a clear and steady way.</a:t>
            </a:r>
          </a:p>
          <a:p>
            <a:pPr marL="0" indent="0">
              <a:buNone/>
            </a:pPr>
            <a:r>
              <a:rPr lang="en-US" sz="1400" dirty="0"/>
              <a:t>Governance quality is also highly related to happiness. </a:t>
            </a:r>
            <a:r>
              <a:rPr lang="en-US" sz="1400" u="sng" dirty="0"/>
              <a:t>Government effectiveness </a:t>
            </a:r>
            <a:r>
              <a:rPr lang="en-US" sz="1400" dirty="0"/>
              <a:t>(= 0.78), </a:t>
            </a:r>
            <a:r>
              <a:rPr lang="en-US" sz="1400" u="sng" dirty="0"/>
              <a:t>regulatory quality </a:t>
            </a:r>
            <a:r>
              <a:rPr lang="en-US" sz="1400" dirty="0"/>
              <a:t>(= 0.74), </a:t>
            </a:r>
            <a:r>
              <a:rPr lang="en-US" sz="1400" u="sng" dirty="0"/>
              <a:t>rule of law</a:t>
            </a:r>
            <a:r>
              <a:rPr lang="en-US" sz="1400" dirty="0"/>
              <a:t> (= 0.73), and </a:t>
            </a:r>
            <a:r>
              <a:rPr lang="en-US" sz="1400" u="sng" dirty="0"/>
              <a:t>control of corruption </a:t>
            </a:r>
            <a:r>
              <a:rPr lang="en-US" sz="1400" dirty="0"/>
              <a:t>(= 0.71) all show strong positive relationships. In simple terms: people tend to be happier where institutions work.</a:t>
            </a:r>
          </a:p>
          <a:p>
            <a:pPr marL="0" indent="0">
              <a:buNone/>
            </a:pPr>
            <a:r>
              <a:rPr lang="en-US" sz="1400" dirty="0"/>
              <a:t>One notable negative driver is </a:t>
            </a:r>
            <a:r>
              <a:rPr lang="en-US" sz="1400" u="sng" dirty="0"/>
              <a:t>birth rate </a:t>
            </a:r>
            <a:r>
              <a:rPr lang="en-US" sz="1400" dirty="0"/>
              <a:t>(Pearson = -0.73). Countries with lower birth rates tend to have higher happiness scores. This often connects to education, women’s participation in the workforce, and higher household stability.</a:t>
            </a:r>
          </a:p>
          <a:p>
            <a:pPr marL="0" indent="0">
              <a:buNone/>
            </a:pPr>
            <a:r>
              <a:rPr lang="en-US" sz="1400" dirty="0"/>
              <a:t>These are correlations, not proof of causation, but they provide a strong “big picture” map of happiness drivers.</a:t>
            </a:r>
          </a:p>
        </p:txBody>
      </p:sp>
    </p:spTree>
    <p:extLst>
      <p:ext uri="{BB962C8B-B14F-4D97-AF65-F5344CB8AC3E}">
        <p14:creationId xmlns:p14="http://schemas.microsoft.com/office/powerpoint/2010/main" val="305756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0DA6-998C-B95F-7CA0-879B76EBF8A6}"/>
              </a:ext>
            </a:extLst>
          </p:cNvPr>
          <p:cNvSpPr>
            <a:spLocks noGrp="1"/>
          </p:cNvSpPr>
          <p:nvPr>
            <p:ph type="title"/>
          </p:nvPr>
        </p:nvSpPr>
        <p:spPr/>
        <p:txBody>
          <a:bodyPr/>
          <a:lstStyle/>
          <a:p>
            <a:r>
              <a:rPr lang="en-US" dirty="0"/>
              <a:t>Top 30: When The Basic Needs Are Met</a:t>
            </a:r>
          </a:p>
        </p:txBody>
      </p:sp>
      <p:sp>
        <p:nvSpPr>
          <p:cNvPr id="3" name="Content Placeholder 2">
            <a:extLst>
              <a:ext uri="{FF2B5EF4-FFF2-40B4-BE49-F238E27FC236}">
                <a16:creationId xmlns:a16="http://schemas.microsoft.com/office/drawing/2014/main" id="{9DFD5D80-AC3F-E012-2B84-EC9AAA083959}"/>
              </a:ext>
            </a:extLst>
          </p:cNvPr>
          <p:cNvSpPr>
            <a:spLocks noGrp="1"/>
          </p:cNvSpPr>
          <p:nvPr>
            <p:ph idx="1"/>
          </p:nvPr>
        </p:nvSpPr>
        <p:spPr/>
        <p:txBody>
          <a:bodyPr>
            <a:normAutofit/>
          </a:bodyPr>
          <a:lstStyle/>
          <a:p>
            <a:pPr marL="0" indent="0">
              <a:buNone/>
            </a:pPr>
            <a:r>
              <a:rPr lang="en-US" sz="1400" dirty="0"/>
              <a:t>When we look only at the Top 30 happiest countries, the pattern changes. Many “basic needs” variables lose strength because they are already high and do not vary much. For example, electricity access becomes less informative (Pearson = 0.31) compared to the global result.</a:t>
            </a:r>
          </a:p>
          <a:p>
            <a:pPr marL="0" indent="0">
              <a:buNone/>
            </a:pPr>
            <a:r>
              <a:rPr lang="en-US" sz="1400" dirty="0"/>
              <a:t>Instead, the strongest relationships shift toward </a:t>
            </a:r>
            <a:r>
              <a:rPr lang="en-US" sz="1400" u="sng" dirty="0"/>
              <a:t>rights, trust, and institutional quality</a:t>
            </a:r>
            <a:r>
              <a:rPr lang="en-US" sz="1400" dirty="0"/>
              <a:t>. The best predictor in this group is </a:t>
            </a:r>
            <a:r>
              <a:rPr lang="en-US" sz="1400" u="sng" dirty="0"/>
              <a:t>voice and accountability </a:t>
            </a:r>
            <a:r>
              <a:rPr lang="en-US" sz="1400" dirty="0"/>
              <a:t>(Pearson = 0.66; Spearman = 0.79). This suggests that in highly developed countries, differences in freedom of speech, democratic participation, and accountability become major separators between “happy” and “very happy.”</a:t>
            </a:r>
          </a:p>
          <a:p>
            <a:pPr marL="0" indent="0">
              <a:buNone/>
            </a:pPr>
            <a:r>
              <a:rPr lang="en-US" sz="1400" dirty="0"/>
              <a:t>Governance indicators remain very strong: </a:t>
            </a:r>
            <a:r>
              <a:rPr lang="en-US" sz="1400" u="sng" dirty="0"/>
              <a:t>rule of law </a:t>
            </a:r>
            <a:r>
              <a:rPr lang="en-US" sz="1400" dirty="0"/>
              <a:t>(Pearson = 0.68), </a:t>
            </a:r>
            <a:r>
              <a:rPr lang="en-US" sz="1400" u="sng" dirty="0"/>
              <a:t>control of corruption </a:t>
            </a:r>
            <a:r>
              <a:rPr lang="en-US" sz="1400" dirty="0"/>
              <a:t>(= 0.64), </a:t>
            </a:r>
            <a:r>
              <a:rPr lang="en-US" sz="1400" u="sng" dirty="0"/>
              <a:t>government effectiveness </a:t>
            </a:r>
            <a:r>
              <a:rPr lang="en-US" sz="1400" dirty="0"/>
              <a:t>(= 0.60), and </a:t>
            </a:r>
            <a:r>
              <a:rPr lang="en-US" sz="1400" u="sng" dirty="0"/>
              <a:t>regulatory quality </a:t>
            </a:r>
            <a:r>
              <a:rPr lang="en-US" sz="1400" dirty="0"/>
              <a:t>(= 0.63). Also, </a:t>
            </a:r>
            <a:r>
              <a:rPr lang="en-US" sz="1400" u="sng" dirty="0"/>
              <a:t>education spending </a:t>
            </a:r>
            <a:r>
              <a:rPr lang="en-US" sz="1400" dirty="0"/>
              <a:t>becomes clearer here (government expenditure on education Pearson = 0.66), even though it was weaker globally.</a:t>
            </a:r>
          </a:p>
          <a:p>
            <a:pPr marL="0" indent="0">
              <a:buNone/>
            </a:pPr>
            <a:r>
              <a:rPr lang="en-US" sz="1400" dirty="0"/>
              <a:t>An interesting shift appears in energy: </a:t>
            </a:r>
            <a:r>
              <a:rPr lang="en-US" sz="1400" u="sng" dirty="0"/>
              <a:t>renewable energy consumption </a:t>
            </a:r>
            <a:r>
              <a:rPr lang="en-US" sz="1400" dirty="0"/>
              <a:t>is negative globally, but turns positive in the Top 30 (Pearson = 0.39). A possible explanation is that richer countries can afford green transitions, and people may value them more once daily survival problems are solved.</a:t>
            </a:r>
          </a:p>
        </p:txBody>
      </p:sp>
    </p:spTree>
    <p:extLst>
      <p:ext uri="{BB962C8B-B14F-4D97-AF65-F5344CB8AC3E}">
        <p14:creationId xmlns:p14="http://schemas.microsoft.com/office/powerpoint/2010/main" val="851910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ECDA09-0B25-A07A-609B-AA703F70992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
            <a:ext cx="3039536" cy="1823721"/>
          </a:xfrm>
        </p:spPr>
      </p:pic>
      <p:pic>
        <p:nvPicPr>
          <p:cNvPr id="7" name="Picture 6">
            <a:extLst>
              <a:ext uri="{FF2B5EF4-FFF2-40B4-BE49-F238E27FC236}">
                <a16:creationId xmlns:a16="http://schemas.microsoft.com/office/drawing/2014/main" id="{A0AD8321-7ADB-1F85-A5BE-3AA50DEAA9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9534" y="2544"/>
            <a:ext cx="3035298" cy="1821179"/>
          </a:xfrm>
          <a:prstGeom prst="rect">
            <a:avLst/>
          </a:prstGeom>
        </p:spPr>
      </p:pic>
      <p:pic>
        <p:nvPicPr>
          <p:cNvPr id="9" name="Picture 8">
            <a:extLst>
              <a:ext uri="{FF2B5EF4-FFF2-40B4-BE49-F238E27FC236}">
                <a16:creationId xmlns:a16="http://schemas.microsoft.com/office/drawing/2014/main" id="{DBCD169D-38FC-CEB8-5AC6-4B8AB69C9C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7090" y="11453"/>
            <a:ext cx="3039536" cy="1823721"/>
          </a:xfrm>
          <a:prstGeom prst="rect">
            <a:avLst/>
          </a:prstGeom>
        </p:spPr>
      </p:pic>
      <p:pic>
        <p:nvPicPr>
          <p:cNvPr id="11" name="Picture 10">
            <a:extLst>
              <a:ext uri="{FF2B5EF4-FFF2-40B4-BE49-F238E27FC236}">
                <a16:creationId xmlns:a16="http://schemas.microsoft.com/office/drawing/2014/main" id="{A0C9D1D1-55D4-1FE9-7710-0BD86D1230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42386" y="2544"/>
            <a:ext cx="3035298" cy="1821180"/>
          </a:xfrm>
          <a:prstGeom prst="rect">
            <a:avLst/>
          </a:prstGeom>
        </p:spPr>
      </p:pic>
      <p:pic>
        <p:nvPicPr>
          <p:cNvPr id="13" name="Picture 12">
            <a:extLst>
              <a:ext uri="{FF2B5EF4-FFF2-40B4-BE49-F238E27FC236}">
                <a16:creationId xmlns:a16="http://schemas.microsoft.com/office/drawing/2014/main" id="{3FAEF285-DAB5-9183-91B3-6FC536A37C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924738"/>
            <a:ext cx="3035298" cy="1821179"/>
          </a:xfrm>
          <a:prstGeom prst="rect">
            <a:avLst/>
          </a:prstGeom>
        </p:spPr>
      </p:pic>
      <p:pic>
        <p:nvPicPr>
          <p:cNvPr id="15" name="Picture 14">
            <a:extLst>
              <a:ext uri="{FF2B5EF4-FFF2-40B4-BE49-F238E27FC236}">
                <a16:creationId xmlns:a16="http://schemas.microsoft.com/office/drawing/2014/main" id="{17E484C0-23FA-26F5-4FAD-33F98132B30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5707" y="1919654"/>
            <a:ext cx="3043771" cy="1826263"/>
          </a:xfrm>
          <a:prstGeom prst="rect">
            <a:avLst/>
          </a:prstGeom>
        </p:spPr>
      </p:pic>
      <p:pic>
        <p:nvPicPr>
          <p:cNvPr id="17" name="Picture 16">
            <a:extLst>
              <a:ext uri="{FF2B5EF4-FFF2-40B4-BE49-F238E27FC236}">
                <a16:creationId xmlns:a16="http://schemas.microsoft.com/office/drawing/2014/main" id="{143B8CFB-1C68-B114-4C8E-3F92018DC5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31651" y="1875201"/>
            <a:ext cx="3043772" cy="1826263"/>
          </a:xfrm>
          <a:prstGeom prst="rect">
            <a:avLst/>
          </a:prstGeom>
        </p:spPr>
      </p:pic>
      <p:pic>
        <p:nvPicPr>
          <p:cNvPr id="19" name="Picture 18">
            <a:extLst>
              <a:ext uri="{FF2B5EF4-FFF2-40B4-BE49-F238E27FC236}">
                <a16:creationId xmlns:a16="http://schemas.microsoft.com/office/drawing/2014/main" id="{0018822D-75E2-761B-63AD-B2351FF6D1E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1107" y="4217142"/>
            <a:ext cx="2889243" cy="1733546"/>
          </a:xfrm>
          <a:prstGeom prst="rect">
            <a:avLst/>
          </a:prstGeom>
        </p:spPr>
      </p:pic>
      <p:pic>
        <p:nvPicPr>
          <p:cNvPr id="21" name="Picture 20">
            <a:extLst>
              <a:ext uri="{FF2B5EF4-FFF2-40B4-BE49-F238E27FC236}">
                <a16:creationId xmlns:a16="http://schemas.microsoft.com/office/drawing/2014/main" id="{F835381E-55DB-A293-6D51-04EBB4D285F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977470" y="1886651"/>
            <a:ext cx="3098776" cy="1859266"/>
          </a:xfrm>
          <a:prstGeom prst="rect">
            <a:avLst/>
          </a:prstGeom>
        </p:spPr>
      </p:pic>
      <p:pic>
        <p:nvPicPr>
          <p:cNvPr id="23" name="Picture 22">
            <a:extLst>
              <a:ext uri="{FF2B5EF4-FFF2-40B4-BE49-F238E27FC236}">
                <a16:creationId xmlns:a16="http://schemas.microsoft.com/office/drawing/2014/main" id="{BDEC0DA2-B94F-B451-0617-1F47698909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59821" y="4173326"/>
            <a:ext cx="3035298" cy="1821179"/>
          </a:xfrm>
          <a:prstGeom prst="rect">
            <a:avLst/>
          </a:prstGeom>
        </p:spPr>
      </p:pic>
      <p:pic>
        <p:nvPicPr>
          <p:cNvPr id="25" name="Picture 24">
            <a:extLst>
              <a:ext uri="{FF2B5EF4-FFF2-40B4-BE49-F238E27FC236}">
                <a16:creationId xmlns:a16="http://schemas.microsoft.com/office/drawing/2014/main" id="{123D4DFE-AFF3-56AA-773B-1BD758571F2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91970" y="4068543"/>
            <a:ext cx="3136909" cy="1882145"/>
          </a:xfrm>
          <a:prstGeom prst="rect">
            <a:avLst/>
          </a:prstGeom>
        </p:spPr>
      </p:pic>
    </p:spTree>
    <p:extLst>
      <p:ext uri="{BB962C8B-B14F-4D97-AF65-F5344CB8AC3E}">
        <p14:creationId xmlns:p14="http://schemas.microsoft.com/office/powerpoint/2010/main" val="401134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F4C27-7498-5421-7C89-4DBE7ABB4637}"/>
              </a:ext>
            </a:extLst>
          </p:cNvPr>
          <p:cNvSpPr>
            <a:spLocks noGrp="1"/>
          </p:cNvSpPr>
          <p:nvPr>
            <p:ph type="title"/>
          </p:nvPr>
        </p:nvSpPr>
        <p:spPr/>
        <p:txBody>
          <a:bodyPr/>
          <a:lstStyle/>
          <a:p>
            <a:r>
              <a:rPr lang="en-US" dirty="0"/>
              <a:t>The Bottom 30: A noisy Picture</a:t>
            </a:r>
          </a:p>
        </p:txBody>
      </p:sp>
      <p:sp>
        <p:nvSpPr>
          <p:cNvPr id="3" name="Content Placeholder 2">
            <a:extLst>
              <a:ext uri="{FF2B5EF4-FFF2-40B4-BE49-F238E27FC236}">
                <a16:creationId xmlns:a16="http://schemas.microsoft.com/office/drawing/2014/main" id="{D1A5424A-3AB3-6665-CFAD-DCF5629F34FE}"/>
              </a:ext>
            </a:extLst>
          </p:cNvPr>
          <p:cNvSpPr>
            <a:spLocks noGrp="1"/>
          </p:cNvSpPr>
          <p:nvPr>
            <p:ph idx="1"/>
          </p:nvPr>
        </p:nvSpPr>
        <p:spPr/>
        <p:txBody>
          <a:bodyPr>
            <a:normAutofit/>
          </a:bodyPr>
          <a:lstStyle/>
          <a:p>
            <a:pPr marL="0" indent="0">
              <a:buNone/>
            </a:pPr>
            <a:r>
              <a:rPr lang="en-US" sz="1400" dirty="0"/>
              <a:t>For the Bottom 30 countries, relationships become weaker and less stable. Many variables that were strong globally, like electricity, internet access, life expectancy, and human capital, drop to low or moderate correlations. This suggests that in very difficult settings, happiness is shaped by factors that standard development indicators do not capture well.</a:t>
            </a:r>
          </a:p>
          <a:p>
            <a:pPr marL="0" indent="0">
              <a:buNone/>
            </a:pPr>
            <a:r>
              <a:rPr lang="en-US" sz="1400" dirty="0"/>
              <a:t>In the results, only a few variables keep a noticeable relationship. </a:t>
            </a:r>
            <a:r>
              <a:rPr lang="en-US" sz="1400" u="sng" dirty="0"/>
              <a:t>GDP (current USD) </a:t>
            </a:r>
            <a:r>
              <a:rPr lang="en-US" sz="1400" dirty="0"/>
              <a:t>shows a modest positive correlation (Pearson = 0.13; Spearman = 0.42). </a:t>
            </a:r>
            <a:r>
              <a:rPr lang="en-US" sz="1400" u="sng" dirty="0"/>
              <a:t>CO₂ emissions </a:t>
            </a:r>
            <a:r>
              <a:rPr lang="en-US" sz="1400" dirty="0"/>
              <a:t>also show a moderate Spearman correlation (= 0.44). This likely does not mean pollution makes people happier, more likely, CO₂ is acting as a proxy for industrial activity and income.</a:t>
            </a:r>
          </a:p>
          <a:p>
            <a:pPr marL="0" indent="0">
              <a:buNone/>
            </a:pPr>
            <a:r>
              <a:rPr lang="en-US" sz="1400" u="sng" dirty="0"/>
              <a:t>Rule of law </a:t>
            </a:r>
            <a:r>
              <a:rPr lang="en-US" sz="1400" dirty="0"/>
              <a:t>remains one of the few governance indicators that still relates to happiness (Pearson = 0.34). This fits the idea that basic safety and predictable rules matter strongly when conditions are unstable.</a:t>
            </a:r>
          </a:p>
          <a:p>
            <a:pPr marL="0" indent="0">
              <a:buNone/>
            </a:pPr>
            <a:r>
              <a:rPr lang="en-US" sz="1400" dirty="0"/>
              <a:t>Overall, the “noisy” picture supports a key limitation: for low happiness countries, major drivers may include war, conflict, sudden economic shocks, insecurity, or political violence, variables that are not directly included in the </a:t>
            </a:r>
            <a:r>
              <a:rPr lang="en-US" sz="1400" dirty="0" err="1"/>
              <a:t>WDI</a:t>
            </a:r>
            <a:r>
              <a:rPr lang="en-US" sz="1400" dirty="0"/>
              <a:t> set that is used. In other words, the model is missing some of the most important realities on the ground.</a:t>
            </a:r>
          </a:p>
          <a:p>
            <a:endParaRPr lang="en-US" sz="1600" dirty="0"/>
          </a:p>
        </p:txBody>
      </p:sp>
    </p:spTree>
    <p:extLst>
      <p:ext uri="{BB962C8B-B14F-4D97-AF65-F5344CB8AC3E}">
        <p14:creationId xmlns:p14="http://schemas.microsoft.com/office/powerpoint/2010/main" val="2707988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267EF9-C3B2-62E0-7E29-681C5664D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098" y="338142"/>
            <a:ext cx="2846927" cy="1708156"/>
          </a:xfrm>
          <a:prstGeom prst="rect">
            <a:avLst/>
          </a:prstGeom>
        </p:spPr>
      </p:pic>
      <p:pic>
        <p:nvPicPr>
          <p:cNvPr id="7" name="Picture 6">
            <a:extLst>
              <a:ext uri="{FF2B5EF4-FFF2-40B4-BE49-F238E27FC236}">
                <a16:creationId xmlns:a16="http://schemas.microsoft.com/office/drawing/2014/main" id="{A2C9D08D-D086-F351-B48F-56E9A54F4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9381" y="4159250"/>
            <a:ext cx="2846927" cy="1708156"/>
          </a:xfrm>
          <a:prstGeom prst="rect">
            <a:avLst/>
          </a:prstGeom>
        </p:spPr>
      </p:pic>
      <p:pic>
        <p:nvPicPr>
          <p:cNvPr id="9" name="Picture 8">
            <a:extLst>
              <a:ext uri="{FF2B5EF4-FFF2-40B4-BE49-F238E27FC236}">
                <a16:creationId xmlns:a16="http://schemas.microsoft.com/office/drawing/2014/main" id="{72755CD3-BE6D-4DA6-3704-0AD2B38C8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8149" y="4159250"/>
            <a:ext cx="2846927" cy="1708156"/>
          </a:xfrm>
          <a:prstGeom prst="rect">
            <a:avLst/>
          </a:prstGeom>
        </p:spPr>
      </p:pic>
      <p:pic>
        <p:nvPicPr>
          <p:cNvPr id="11" name="Picture 10">
            <a:extLst>
              <a:ext uri="{FF2B5EF4-FFF2-40B4-BE49-F238E27FC236}">
                <a16:creationId xmlns:a16="http://schemas.microsoft.com/office/drawing/2014/main" id="{61E28779-6D24-78C0-4880-2BF22379C2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1224" y="4159250"/>
            <a:ext cx="2846927" cy="1708156"/>
          </a:xfrm>
          <a:prstGeom prst="rect">
            <a:avLst/>
          </a:prstGeom>
        </p:spPr>
      </p:pic>
      <p:pic>
        <p:nvPicPr>
          <p:cNvPr id="13" name="Picture 12">
            <a:extLst>
              <a:ext uri="{FF2B5EF4-FFF2-40B4-BE49-F238E27FC236}">
                <a16:creationId xmlns:a16="http://schemas.microsoft.com/office/drawing/2014/main" id="{2E4BF659-2440-1243-C76E-AE4539021C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5098" y="4159250"/>
            <a:ext cx="2846927" cy="1708156"/>
          </a:xfrm>
          <a:prstGeom prst="rect">
            <a:avLst/>
          </a:prstGeom>
        </p:spPr>
      </p:pic>
      <p:pic>
        <p:nvPicPr>
          <p:cNvPr id="15" name="Picture 14">
            <a:extLst>
              <a:ext uri="{FF2B5EF4-FFF2-40B4-BE49-F238E27FC236}">
                <a16:creationId xmlns:a16="http://schemas.microsoft.com/office/drawing/2014/main" id="{819CCD10-9C12-34E4-9837-AC27341542E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69380" y="2181226"/>
            <a:ext cx="2846927" cy="1708156"/>
          </a:xfrm>
          <a:prstGeom prst="rect">
            <a:avLst/>
          </a:prstGeom>
        </p:spPr>
      </p:pic>
      <p:pic>
        <p:nvPicPr>
          <p:cNvPr id="17" name="Picture 16">
            <a:extLst>
              <a:ext uri="{FF2B5EF4-FFF2-40B4-BE49-F238E27FC236}">
                <a16:creationId xmlns:a16="http://schemas.microsoft.com/office/drawing/2014/main" id="{E95529E7-7FCE-F93F-C651-705FBCF8F1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08148" y="2181226"/>
            <a:ext cx="2846927" cy="1708156"/>
          </a:xfrm>
          <a:prstGeom prst="rect">
            <a:avLst/>
          </a:prstGeom>
        </p:spPr>
      </p:pic>
      <p:pic>
        <p:nvPicPr>
          <p:cNvPr id="19" name="Picture 18">
            <a:extLst>
              <a:ext uri="{FF2B5EF4-FFF2-40B4-BE49-F238E27FC236}">
                <a16:creationId xmlns:a16="http://schemas.microsoft.com/office/drawing/2014/main" id="{E9481B4D-A74E-589C-08E3-536A6A896AC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61223" y="2181230"/>
            <a:ext cx="2846927" cy="1708156"/>
          </a:xfrm>
          <a:prstGeom prst="rect">
            <a:avLst/>
          </a:prstGeom>
        </p:spPr>
      </p:pic>
      <p:pic>
        <p:nvPicPr>
          <p:cNvPr id="21" name="Picture 20">
            <a:extLst>
              <a:ext uri="{FF2B5EF4-FFF2-40B4-BE49-F238E27FC236}">
                <a16:creationId xmlns:a16="http://schemas.microsoft.com/office/drawing/2014/main" id="{F7D729F8-868D-D778-436C-592B23D990E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5098" y="2181230"/>
            <a:ext cx="2846927" cy="1708156"/>
          </a:xfrm>
          <a:prstGeom prst="rect">
            <a:avLst/>
          </a:prstGeom>
        </p:spPr>
      </p:pic>
      <p:pic>
        <p:nvPicPr>
          <p:cNvPr id="23" name="Picture 22">
            <a:extLst>
              <a:ext uri="{FF2B5EF4-FFF2-40B4-BE49-F238E27FC236}">
                <a16:creationId xmlns:a16="http://schemas.microsoft.com/office/drawing/2014/main" id="{1F881175-04CD-0319-8C61-A6C27C1AE11B}"/>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69380" y="338142"/>
            <a:ext cx="2846927" cy="1708156"/>
          </a:xfrm>
          <a:prstGeom prst="rect">
            <a:avLst/>
          </a:prstGeom>
        </p:spPr>
      </p:pic>
      <p:pic>
        <p:nvPicPr>
          <p:cNvPr id="25" name="Picture 24">
            <a:extLst>
              <a:ext uri="{FF2B5EF4-FFF2-40B4-BE49-F238E27FC236}">
                <a16:creationId xmlns:a16="http://schemas.microsoft.com/office/drawing/2014/main" id="{4D3885DB-39CA-8ABA-D2B5-083033BB740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808148" y="338142"/>
            <a:ext cx="2846927" cy="1708156"/>
          </a:xfrm>
          <a:prstGeom prst="rect">
            <a:avLst/>
          </a:prstGeom>
        </p:spPr>
      </p:pic>
      <p:pic>
        <p:nvPicPr>
          <p:cNvPr id="27" name="Picture 26">
            <a:extLst>
              <a:ext uri="{FF2B5EF4-FFF2-40B4-BE49-F238E27FC236}">
                <a16:creationId xmlns:a16="http://schemas.microsoft.com/office/drawing/2014/main" id="{DD8956B5-12A1-084E-F68B-0B697C8AE0E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961222" y="338142"/>
            <a:ext cx="2846927" cy="1708156"/>
          </a:xfrm>
          <a:prstGeom prst="rect">
            <a:avLst/>
          </a:prstGeom>
        </p:spPr>
      </p:pic>
    </p:spTree>
    <p:extLst>
      <p:ext uri="{BB962C8B-B14F-4D97-AF65-F5344CB8AC3E}">
        <p14:creationId xmlns:p14="http://schemas.microsoft.com/office/powerpoint/2010/main" val="135492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8CD6-FA85-2BD5-FF1F-9481FBDDBD77}"/>
              </a:ext>
            </a:extLst>
          </p:cNvPr>
          <p:cNvSpPr>
            <a:spLocks noGrp="1"/>
          </p:cNvSpPr>
          <p:nvPr>
            <p:ph type="title"/>
          </p:nvPr>
        </p:nvSpPr>
        <p:spPr/>
        <p:txBody>
          <a:bodyPr/>
          <a:lstStyle/>
          <a:p>
            <a:r>
              <a:rPr lang="en-US" dirty="0"/>
              <a:t>Interesting Anomalies</a:t>
            </a:r>
          </a:p>
        </p:txBody>
      </p:sp>
      <p:sp>
        <p:nvSpPr>
          <p:cNvPr id="3" name="Content Placeholder 2">
            <a:extLst>
              <a:ext uri="{FF2B5EF4-FFF2-40B4-BE49-F238E27FC236}">
                <a16:creationId xmlns:a16="http://schemas.microsoft.com/office/drawing/2014/main" id="{53B36FAC-A62C-0F92-E02B-0695A5132299}"/>
              </a:ext>
            </a:extLst>
          </p:cNvPr>
          <p:cNvSpPr>
            <a:spLocks noGrp="1"/>
          </p:cNvSpPr>
          <p:nvPr>
            <p:ph idx="1"/>
          </p:nvPr>
        </p:nvSpPr>
        <p:spPr/>
        <p:txBody>
          <a:bodyPr>
            <a:normAutofit/>
          </a:bodyPr>
          <a:lstStyle/>
          <a:p>
            <a:pPr marL="0" indent="0">
              <a:buNone/>
            </a:pPr>
            <a:r>
              <a:rPr lang="en-US" sz="1400" dirty="0"/>
              <a:t>Two patterns stand out as “weird but informative.”</a:t>
            </a:r>
          </a:p>
          <a:p>
            <a:pPr marL="342900" indent="-342900">
              <a:buFont typeface="+mj-lt"/>
              <a:buAutoNum type="arabicPeriod"/>
            </a:pPr>
            <a:r>
              <a:rPr lang="en-US" sz="1400" b="1" dirty="0"/>
              <a:t>CO₂ emissions: big Pearson - Spearman gap (global).</a:t>
            </a:r>
            <a:br>
              <a:rPr lang="en-US" sz="1400" dirty="0"/>
            </a:br>
            <a:r>
              <a:rPr lang="en-US" sz="1400" dirty="0"/>
              <a:t>Globally, CO₂ emissions have a very low Pearson correlation (= 0.08) but a much higher Spearman correlation (= 0.51). This means the relationship is not cleanly linear, but the ranking still matters: countries with more emissions often rank higher in happiness, up to a point. A few extreme countries can distort the linear trend (classic outlier behavior). This is why checking both Pearson (linear) and Spearman (rank-based) is useful.</a:t>
            </a:r>
          </a:p>
          <a:p>
            <a:pPr marL="342900" indent="-342900">
              <a:buFont typeface="+mj-lt"/>
              <a:buAutoNum type="arabicPeriod"/>
            </a:pPr>
            <a:r>
              <a:rPr lang="en-US" sz="1400" b="1" dirty="0"/>
              <a:t>Government health expenditure: strong globally, weaker in the Top 30.</a:t>
            </a:r>
            <a:br>
              <a:rPr lang="en-US" sz="1400" dirty="0"/>
            </a:br>
            <a:r>
              <a:rPr lang="en-US" sz="1400" dirty="0"/>
              <a:t>Globally, government health expenditure is highly correlated with happiness (Pearson = 0.73). In the Top 30, it drops (= 0.50). A simple interpretation: once a country already has a strong health system, spending more does not guarantee higher happiness. The effect may “saturate” meaning extra investment gives smaller returns in life evaluation.</a:t>
            </a:r>
          </a:p>
          <a:p>
            <a:pPr marL="0" indent="0">
              <a:buNone/>
            </a:pPr>
            <a:r>
              <a:rPr lang="en-US" sz="1400" dirty="0"/>
              <a:t>A smaller anomaly is </a:t>
            </a:r>
            <a:r>
              <a:rPr lang="en-US" sz="1400" u="sng" dirty="0"/>
              <a:t>renewable energy </a:t>
            </a:r>
            <a:r>
              <a:rPr lang="en-US" sz="1400" dirty="0"/>
              <a:t>switching sign: negative globally (= -0.52) but positive in the Top 30 (= 0.39). This may reflect development stages: poorer countries may rely on renewables due to lack of infrastructure, while richer countries choose renewables as a policy preference.</a:t>
            </a:r>
          </a:p>
          <a:p>
            <a:pPr marL="0" indent="0">
              <a:buNone/>
            </a:pPr>
            <a:endParaRPr lang="en-US" sz="1600" dirty="0"/>
          </a:p>
        </p:txBody>
      </p:sp>
    </p:spTree>
    <p:extLst>
      <p:ext uri="{BB962C8B-B14F-4D97-AF65-F5344CB8AC3E}">
        <p14:creationId xmlns:p14="http://schemas.microsoft.com/office/powerpoint/2010/main" val="3660373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11496-F525-00AA-B8ED-5F827FBE2984}"/>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DEE5668C-F323-5802-F8F7-E75C81B886DE}"/>
              </a:ext>
            </a:extLst>
          </p:cNvPr>
          <p:cNvSpPr>
            <a:spLocks noGrp="1"/>
          </p:cNvSpPr>
          <p:nvPr>
            <p:ph idx="1"/>
          </p:nvPr>
        </p:nvSpPr>
        <p:spPr/>
        <p:txBody>
          <a:bodyPr>
            <a:normAutofit/>
          </a:bodyPr>
          <a:lstStyle/>
          <a:p>
            <a:pPr marL="0" indent="0">
              <a:buNone/>
            </a:pPr>
            <a:r>
              <a:rPr lang="en-US" sz="1400" dirty="0"/>
              <a:t>“Structural indicators (GDP, Electricity, Internet Access) are strong predictors of happiness in developing nations (Bottom 30), but their predictive power diminishes significantly in developed nations (Top 30), where “soft” factors (Freedom, Trust, Generosity) become the primary differentiators.”</a:t>
            </a:r>
          </a:p>
          <a:p>
            <a:pPr marL="0" indent="0">
              <a:buNone/>
            </a:pPr>
            <a:r>
              <a:rPr lang="en-US" sz="1400" dirty="0"/>
              <a:t>This hypothesis matches the intuition of “needs first, values later.” In low happiness settings, access to basics like stable income, electricity, healthcare capacity, and connectivity should matter more because these are not guaranteed. In high happiness settings, these basics are already close to universal, so they cannot explain much variation. Instead, differences in governance quality, freedom, fairness, and trust may become the main reasons why one developed country is happier than another.</a:t>
            </a:r>
          </a:p>
          <a:p>
            <a:pPr marL="0" indent="0">
              <a:buNone/>
            </a:pPr>
            <a:r>
              <a:rPr lang="en-US" sz="1400" dirty="0"/>
              <a:t>My correlation results partly support this: globally, structural and human development indicators (life expectancy, internet use, electricity, human capital) are extremely strong. In the Top 30, the strongest signals shift toward voice and accountability and corruption control, while electricity becomes weak. In the Bottom 30, correlations are messy, which suggests the hypothesis may be true in spirit, but difficult to prove with these variables alone, because major missing factors (conflict, instability, safety) may dominate the happiness scores.</a:t>
            </a:r>
          </a:p>
          <a:p>
            <a:pPr marL="0" indent="0">
              <a:buNone/>
            </a:pPr>
            <a:r>
              <a:rPr lang="en-US" sz="1400" dirty="0"/>
              <a:t>The ML models are used next to test whether this pattern holds when many variables are considered together.</a:t>
            </a:r>
          </a:p>
        </p:txBody>
      </p:sp>
    </p:spTree>
    <p:extLst>
      <p:ext uri="{BB962C8B-B14F-4D97-AF65-F5344CB8AC3E}">
        <p14:creationId xmlns:p14="http://schemas.microsoft.com/office/powerpoint/2010/main" val="2439117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CFE3-BDBD-14AB-47AC-4B6BC4DFA7C6}"/>
              </a:ext>
            </a:extLst>
          </p:cNvPr>
          <p:cNvSpPr>
            <a:spLocks noGrp="1"/>
          </p:cNvSpPr>
          <p:nvPr>
            <p:ph type="title"/>
          </p:nvPr>
        </p:nvSpPr>
        <p:spPr/>
        <p:txBody>
          <a:bodyPr/>
          <a:lstStyle/>
          <a:p>
            <a:r>
              <a:rPr lang="en-US" dirty="0"/>
              <a:t>Two ML Method Application</a:t>
            </a:r>
          </a:p>
        </p:txBody>
      </p:sp>
      <p:sp>
        <p:nvSpPr>
          <p:cNvPr id="3" name="Content Placeholder 2">
            <a:extLst>
              <a:ext uri="{FF2B5EF4-FFF2-40B4-BE49-F238E27FC236}">
                <a16:creationId xmlns:a16="http://schemas.microsoft.com/office/drawing/2014/main" id="{8EF2032C-E758-DF99-E01F-BA6469040738}"/>
              </a:ext>
            </a:extLst>
          </p:cNvPr>
          <p:cNvSpPr>
            <a:spLocks noGrp="1"/>
          </p:cNvSpPr>
          <p:nvPr>
            <p:ph idx="1"/>
          </p:nvPr>
        </p:nvSpPr>
        <p:spPr/>
        <p:txBody>
          <a:bodyPr>
            <a:normAutofit/>
          </a:bodyPr>
          <a:lstStyle/>
          <a:p>
            <a:pPr marL="0" indent="0">
              <a:buNone/>
            </a:pPr>
            <a:r>
              <a:rPr lang="en-US" sz="1400" dirty="0"/>
              <a:t>To go beyond pairwise correlations, I used two machine learning models to predict </a:t>
            </a:r>
            <a:r>
              <a:rPr lang="en-US" sz="1400" u="sng" dirty="0" err="1"/>
              <a:t>Life_Evaluation_Avg</a:t>
            </a:r>
            <a:r>
              <a:rPr lang="en-US" sz="1400" u="sng" dirty="0"/>
              <a:t> </a:t>
            </a:r>
            <a:r>
              <a:rPr lang="en-US" sz="1400" dirty="0"/>
              <a:t>from many development indicators at the same time.</a:t>
            </a:r>
          </a:p>
          <a:p>
            <a:pPr marL="0" indent="0">
              <a:buNone/>
            </a:pPr>
            <a:r>
              <a:rPr lang="en-US" sz="1400" dirty="0"/>
              <a:t>Data setup: I selected numeric features, filled missing values with column means, and split the dataset into training (80%) and testing (20%). In my run, this produced 117 countries for training and 30 for testing. For Linear Regression, I standardized the features so coefficients can be compared more fairly.</a:t>
            </a:r>
          </a:p>
          <a:p>
            <a:pPr marL="0" indent="0">
              <a:buNone/>
            </a:pPr>
            <a:r>
              <a:rPr lang="en-US" sz="1400" b="1" dirty="0"/>
              <a:t>Why two models?</a:t>
            </a:r>
            <a:endParaRPr lang="en-US" sz="1400" dirty="0"/>
          </a:p>
          <a:p>
            <a:r>
              <a:rPr lang="en-US" sz="1400" u="sng" dirty="0"/>
              <a:t>Linear Regression </a:t>
            </a:r>
            <a:r>
              <a:rPr lang="en-US" sz="1400" dirty="0"/>
              <a:t>is simple and interpretable, but it assumes a mostly linear relationship and can struggle with interactions (when the effect of one variable depends on another).</a:t>
            </a:r>
          </a:p>
          <a:p>
            <a:r>
              <a:rPr lang="en-US" sz="1400" u="sng" dirty="0"/>
              <a:t>Random Forest </a:t>
            </a:r>
            <a:r>
              <a:rPr lang="en-US" sz="1400" dirty="0"/>
              <a:t>can model non linear patterns and interactions automatically. It often performs better in complex social data, but it is less transparent than a simple linear equation.</a:t>
            </a:r>
          </a:p>
          <a:p>
            <a:pPr marL="0" indent="0">
              <a:buNone/>
            </a:pPr>
            <a:r>
              <a:rPr lang="en-US" sz="1400" dirty="0"/>
              <a:t>I evaluated both models using R² (how much variance is explained) and RMSE (average prediction error size). I also examined “influential factors” using regression coefficients (Linear Regression) and feature importance (Random Forest).</a:t>
            </a:r>
          </a:p>
          <a:p>
            <a:pPr marL="0" indent="0">
              <a:buNone/>
            </a:pPr>
            <a:endParaRPr lang="en-US" dirty="0"/>
          </a:p>
        </p:txBody>
      </p:sp>
    </p:spTree>
    <p:extLst>
      <p:ext uri="{BB962C8B-B14F-4D97-AF65-F5344CB8AC3E}">
        <p14:creationId xmlns:p14="http://schemas.microsoft.com/office/powerpoint/2010/main" val="2857726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4D2FB-10AA-78A7-D722-5B4BAD506F1D}"/>
              </a:ext>
            </a:extLst>
          </p:cNvPr>
          <p:cNvSpPr>
            <a:spLocks noGrp="1"/>
          </p:cNvSpPr>
          <p:nvPr>
            <p:ph type="title"/>
          </p:nvPr>
        </p:nvSpPr>
        <p:spPr/>
        <p:txBody>
          <a:bodyPr/>
          <a:lstStyle/>
          <a:p>
            <a:r>
              <a:rPr lang="en-US" dirty="0"/>
              <a:t>Linear Regression</a:t>
            </a:r>
          </a:p>
        </p:txBody>
      </p:sp>
      <p:sp>
        <p:nvSpPr>
          <p:cNvPr id="3" name="Content Placeholder 2">
            <a:extLst>
              <a:ext uri="{FF2B5EF4-FFF2-40B4-BE49-F238E27FC236}">
                <a16:creationId xmlns:a16="http://schemas.microsoft.com/office/drawing/2014/main" id="{F12E5556-2332-0922-7163-CD69D24713DA}"/>
              </a:ext>
            </a:extLst>
          </p:cNvPr>
          <p:cNvSpPr>
            <a:spLocks noGrp="1"/>
          </p:cNvSpPr>
          <p:nvPr>
            <p:ph idx="1"/>
          </p:nvPr>
        </p:nvSpPr>
        <p:spPr/>
        <p:txBody>
          <a:bodyPr>
            <a:normAutofit/>
          </a:bodyPr>
          <a:lstStyle/>
          <a:p>
            <a:pPr marL="0" indent="0">
              <a:buNone/>
            </a:pPr>
            <a:r>
              <a:rPr lang="en-US" sz="1400" dirty="0"/>
              <a:t>The Linear Regression model performed poorly on the test set</a:t>
            </a:r>
            <a:r>
              <a:rPr lang="en-US" sz="1400" u="sng" dirty="0"/>
              <a:t>: R² = -0.138 </a:t>
            </a:r>
            <a:r>
              <a:rPr lang="en-US" sz="1400" dirty="0"/>
              <a:t>and </a:t>
            </a:r>
            <a:r>
              <a:rPr lang="en-US" sz="1400" u="sng" dirty="0"/>
              <a:t>RMSE = 1.15</a:t>
            </a:r>
            <a:r>
              <a:rPr lang="en-US" sz="1400" dirty="0"/>
              <a:t>. A negative R² means the model is doing worse than a simple baseline that predicts the average happiness for every country. This suggests that happiness is not well explained by a single linear combination of these features, at least with this dataset and split.</a:t>
            </a:r>
          </a:p>
          <a:p>
            <a:pPr marL="0" indent="0">
              <a:buNone/>
            </a:pPr>
            <a:r>
              <a:rPr lang="en-US" sz="1400" dirty="0"/>
              <a:t>The “top factors” based on coefficients also looked unstable and hard to trust. For example, the largest coefficients included other greenhouse emissions (positive) and CO₂ emissions (negative), plus population-related variables. These signs can happen when features overlap strongly (multicollinearity), when relationships are non-linear, or when outliers influence the fit. Even though I scaled the data, coefficient size does not automatically mean true importance if predictors are correlated with each other.</a:t>
            </a:r>
          </a:p>
          <a:p>
            <a:pPr marL="0" indent="0">
              <a:buNone/>
            </a:pPr>
            <a:r>
              <a:rPr lang="en-US" sz="1400" dirty="0"/>
              <a:t>So, the key takeaway is not that “emissions cause happiness changes,” but that the linear model struggles to capture the real structure of the data. Happiness likely depends on non-linear effects (thresholds, saturation) and interactions (for example: internet access matters more when basic infrastructure exists). This limitation is exactly why a more flexible model is useful.</a:t>
            </a:r>
          </a:p>
          <a:p>
            <a:pPr marL="0" indent="0">
              <a:buNone/>
            </a:pPr>
            <a:endParaRPr lang="en-US" dirty="0"/>
          </a:p>
        </p:txBody>
      </p:sp>
    </p:spTree>
    <p:extLst>
      <p:ext uri="{BB962C8B-B14F-4D97-AF65-F5344CB8AC3E}">
        <p14:creationId xmlns:p14="http://schemas.microsoft.com/office/powerpoint/2010/main" val="963378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D98C3-69A4-41FF-EFED-D3BAFA52E063}"/>
              </a:ext>
            </a:extLst>
          </p:cNvPr>
          <p:cNvSpPr>
            <a:spLocks noGrp="1"/>
          </p:cNvSpPr>
          <p:nvPr>
            <p:ph type="title"/>
          </p:nvPr>
        </p:nvSpPr>
        <p:spPr/>
        <p:txBody>
          <a:bodyPr/>
          <a:lstStyle/>
          <a:p>
            <a:r>
              <a:rPr lang="en-US" dirty="0"/>
              <a:t>Random forest</a:t>
            </a:r>
          </a:p>
        </p:txBody>
      </p:sp>
      <p:sp>
        <p:nvSpPr>
          <p:cNvPr id="3" name="Content Placeholder 2">
            <a:extLst>
              <a:ext uri="{FF2B5EF4-FFF2-40B4-BE49-F238E27FC236}">
                <a16:creationId xmlns:a16="http://schemas.microsoft.com/office/drawing/2014/main" id="{BAF33ED1-515B-6A2B-FAD7-F0E8BC63E035}"/>
              </a:ext>
            </a:extLst>
          </p:cNvPr>
          <p:cNvSpPr>
            <a:spLocks noGrp="1"/>
          </p:cNvSpPr>
          <p:nvPr>
            <p:ph idx="1"/>
          </p:nvPr>
        </p:nvSpPr>
        <p:spPr/>
        <p:txBody>
          <a:bodyPr>
            <a:normAutofit/>
          </a:bodyPr>
          <a:lstStyle/>
          <a:p>
            <a:pPr marL="0" indent="0">
              <a:buNone/>
            </a:pPr>
            <a:r>
              <a:rPr lang="en-US" sz="1400" dirty="0"/>
              <a:t>The Random Forest model performed much better: R² = 0.696 and RMSE = 0.595. This means it explains a large part of the variation in happiness scores and predicts with a noticeably smaller average error than Linear Regression.</a:t>
            </a:r>
          </a:p>
          <a:p>
            <a:pPr marL="0" indent="0">
              <a:buNone/>
            </a:pPr>
            <a:r>
              <a:rPr lang="en-US" sz="1400" b="1" dirty="0"/>
              <a:t>Why the improvement? </a:t>
            </a:r>
            <a:r>
              <a:rPr lang="en-US" sz="1400" dirty="0"/>
              <a:t>Random Forest can capture patterns that are common in real world development data:</a:t>
            </a:r>
          </a:p>
          <a:p>
            <a:r>
              <a:rPr lang="en-US" sz="1400" u="sng" dirty="0"/>
              <a:t>Non-linear effects: </a:t>
            </a:r>
            <a:r>
              <a:rPr lang="en-US" sz="1400" dirty="0"/>
              <a:t>for example, improving electricity access from 50% to 80% may matter more than improving from 98% to 100%.</a:t>
            </a:r>
          </a:p>
          <a:p>
            <a:r>
              <a:rPr lang="en-US" sz="1400" u="sng" dirty="0"/>
              <a:t>Interactions: </a:t>
            </a:r>
            <a:r>
              <a:rPr lang="en-US" sz="1400" dirty="0"/>
              <a:t>the impact of internet use might depend on education levels, income, or political stability.</a:t>
            </a:r>
          </a:p>
          <a:p>
            <a:r>
              <a:rPr lang="en-US" sz="1400" u="sng" dirty="0"/>
              <a:t>Robustness: </a:t>
            </a:r>
            <a:r>
              <a:rPr lang="en-US" sz="1400" dirty="0"/>
              <a:t>using many decision trees reduces sensitivity to noise in any single indicator.</a:t>
            </a:r>
          </a:p>
          <a:p>
            <a:pPr marL="0" indent="0">
              <a:buNone/>
            </a:pPr>
            <a:r>
              <a:rPr lang="en-US" sz="1400" dirty="0"/>
              <a:t>I also saved a feature importance plot. Feature importance in Random Forest does not prove causality, but it helps identify which indicators the model uses most when predicting happiness.</a:t>
            </a:r>
          </a:p>
          <a:p>
            <a:pPr marL="0" indent="0">
              <a:buNone/>
            </a:pPr>
            <a:r>
              <a:rPr lang="en-US" sz="1400" dirty="0"/>
              <a:t>One caution: Random Forest can sometimes “learn” proxies (like CO₂ acting as a proxy for industry and GDP). So interpretation should be careful and supported by the earlier correlation analysis and by real world reasoning.</a:t>
            </a:r>
          </a:p>
          <a:p>
            <a:pPr marL="0" indent="0">
              <a:buNone/>
            </a:pPr>
            <a:r>
              <a:rPr lang="en-US" sz="1400" dirty="0"/>
              <a:t>Overall, Random Forest appears to be a better fit for this problem because happiness is complex, multi factor, and rarely purely linear.</a:t>
            </a:r>
          </a:p>
          <a:p>
            <a:pPr marL="0" indent="0">
              <a:buNone/>
            </a:pPr>
            <a:endParaRPr lang="en-US" dirty="0"/>
          </a:p>
        </p:txBody>
      </p:sp>
    </p:spTree>
    <p:extLst>
      <p:ext uri="{BB962C8B-B14F-4D97-AF65-F5344CB8AC3E}">
        <p14:creationId xmlns:p14="http://schemas.microsoft.com/office/powerpoint/2010/main" val="2443461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67CC-0212-4DB7-EE3C-457074D48B15}"/>
              </a:ext>
            </a:extLst>
          </p:cNvPr>
          <p:cNvSpPr>
            <a:spLocks noGrp="1"/>
          </p:cNvSpPr>
          <p:nvPr>
            <p:ph type="title"/>
          </p:nvPr>
        </p:nvSpPr>
        <p:spPr/>
        <p:txBody>
          <a:bodyPr/>
          <a:lstStyle/>
          <a:p>
            <a:r>
              <a:rPr lang="en-US" dirty="0"/>
              <a:t>Results</a:t>
            </a:r>
          </a:p>
        </p:txBody>
      </p:sp>
      <p:pic>
        <p:nvPicPr>
          <p:cNvPr id="5" name="Picture 4">
            <a:extLst>
              <a:ext uri="{FF2B5EF4-FFF2-40B4-BE49-F238E27FC236}">
                <a16:creationId xmlns:a16="http://schemas.microsoft.com/office/drawing/2014/main" id="{8D04A351-1A6C-99BD-1EDE-B801515B9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11298"/>
            <a:ext cx="6159502" cy="3695702"/>
          </a:xfrm>
          <a:prstGeom prst="rect">
            <a:avLst/>
          </a:prstGeom>
        </p:spPr>
      </p:pic>
      <p:pic>
        <p:nvPicPr>
          <p:cNvPr id="7" name="Picture 6">
            <a:extLst>
              <a:ext uri="{FF2B5EF4-FFF2-40B4-BE49-F238E27FC236}">
                <a16:creationId xmlns:a16="http://schemas.microsoft.com/office/drawing/2014/main" id="{E6B0540A-7B6E-23B5-E0E3-C709F2ADC24C}"/>
              </a:ext>
            </a:extLst>
          </p:cNvPr>
          <p:cNvPicPr>
            <a:picLocks noChangeAspect="1"/>
          </p:cNvPicPr>
          <p:nvPr/>
        </p:nvPicPr>
        <p:blipFill>
          <a:blip r:embed="rId3">
            <a:extLst>
              <a:ext uri="{28A0092B-C50C-407E-A947-70E740481C1C}">
                <a14:useLocalDpi xmlns:a14="http://schemas.microsoft.com/office/drawing/2010/main" val="0"/>
              </a:ext>
            </a:extLst>
          </a:blip>
          <a:srcRect l="7003" r="7595"/>
          <a:stretch>
            <a:fillRect/>
          </a:stretch>
        </p:blipFill>
        <p:spPr>
          <a:xfrm>
            <a:off x="6400800" y="1289998"/>
            <a:ext cx="5575300" cy="3917002"/>
          </a:xfrm>
          <a:prstGeom prst="rect">
            <a:avLst/>
          </a:prstGeom>
        </p:spPr>
      </p:pic>
    </p:spTree>
    <p:extLst>
      <p:ext uri="{BB962C8B-B14F-4D97-AF65-F5344CB8AC3E}">
        <p14:creationId xmlns:p14="http://schemas.microsoft.com/office/powerpoint/2010/main" val="4155933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D7A76-9209-4D22-FE87-76B143057A78}"/>
              </a:ext>
            </a:extLst>
          </p:cNvPr>
          <p:cNvSpPr>
            <a:spLocks noGrp="1"/>
          </p:cNvSpPr>
          <p:nvPr>
            <p:ph type="title"/>
          </p:nvPr>
        </p:nvSpPr>
        <p:spPr/>
        <p:txBody>
          <a:bodyPr/>
          <a:lstStyle/>
          <a:p>
            <a:r>
              <a:rPr lang="en-US" dirty="0"/>
              <a:t>Using Linear Regression And Random Forest Predictions on Hypothetical Country</a:t>
            </a:r>
          </a:p>
        </p:txBody>
      </p:sp>
      <p:pic>
        <p:nvPicPr>
          <p:cNvPr id="5" name="Content Placeholder 4">
            <a:extLst>
              <a:ext uri="{FF2B5EF4-FFF2-40B4-BE49-F238E27FC236}">
                <a16:creationId xmlns:a16="http://schemas.microsoft.com/office/drawing/2014/main" id="{8222E5D3-2BB8-19AF-C5A3-48BA24470659}"/>
              </a:ext>
            </a:extLst>
          </p:cNvPr>
          <p:cNvPicPr>
            <a:picLocks noGrp="1" noChangeAspect="1"/>
          </p:cNvPicPr>
          <p:nvPr>
            <p:ph idx="1"/>
          </p:nvPr>
        </p:nvPicPr>
        <p:blipFill>
          <a:blip r:embed="rId2"/>
          <a:stretch>
            <a:fillRect/>
          </a:stretch>
        </p:blipFill>
        <p:spPr>
          <a:xfrm>
            <a:off x="3225580" y="1825625"/>
            <a:ext cx="5740840" cy="4351338"/>
          </a:xfrm>
          <a:prstGeom prst="rect">
            <a:avLst/>
          </a:prstGeom>
        </p:spPr>
      </p:pic>
    </p:spTree>
    <p:extLst>
      <p:ext uri="{BB962C8B-B14F-4D97-AF65-F5344CB8AC3E}">
        <p14:creationId xmlns:p14="http://schemas.microsoft.com/office/powerpoint/2010/main" val="1796994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A138-CB12-ABEB-B1E4-086D4AA1E9D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A06E236-58D6-9CE0-BE8A-F6EA6F3C6E84}"/>
              </a:ext>
            </a:extLst>
          </p:cNvPr>
          <p:cNvSpPr>
            <a:spLocks noGrp="1"/>
          </p:cNvSpPr>
          <p:nvPr>
            <p:ph idx="1"/>
          </p:nvPr>
        </p:nvSpPr>
        <p:spPr/>
        <p:txBody>
          <a:bodyPr>
            <a:normAutofit/>
          </a:bodyPr>
          <a:lstStyle/>
          <a:p>
            <a:pPr marL="0" indent="0">
              <a:buNone/>
            </a:pPr>
            <a:r>
              <a:rPr lang="en-US" sz="1400" dirty="0"/>
              <a:t>This project explores what drives national happiness using two steps: correlation analysis (global, Top 30, Bottom 30) and machine learning prediction.</a:t>
            </a:r>
          </a:p>
          <a:p>
            <a:pPr marL="0" indent="0">
              <a:buNone/>
            </a:pPr>
            <a:r>
              <a:rPr lang="en-US" sz="1400" dirty="0"/>
              <a:t>The global results are clear: happiness strongly rises with core development outcomes, </a:t>
            </a:r>
            <a:r>
              <a:rPr lang="en-US" sz="1400" u="sng" dirty="0"/>
              <a:t>life expectancy</a:t>
            </a:r>
            <a:r>
              <a:rPr lang="en-US" sz="1400" dirty="0"/>
              <a:t>, </a:t>
            </a:r>
            <a:r>
              <a:rPr lang="en-US" sz="1400" u="sng" dirty="0"/>
              <a:t>internet use</a:t>
            </a:r>
            <a:r>
              <a:rPr lang="en-US" sz="1400" dirty="0"/>
              <a:t>, </a:t>
            </a:r>
            <a:r>
              <a:rPr lang="en-US" sz="1400" u="sng" dirty="0"/>
              <a:t>human capital</a:t>
            </a:r>
            <a:r>
              <a:rPr lang="en-US" sz="1400" dirty="0"/>
              <a:t>, </a:t>
            </a:r>
            <a:r>
              <a:rPr lang="en-US" sz="1400" u="sng" dirty="0"/>
              <a:t>and electricity access</a:t>
            </a:r>
            <a:r>
              <a:rPr lang="en-US" sz="1400" dirty="0"/>
              <a:t>, and with strong institutions like </a:t>
            </a:r>
            <a:r>
              <a:rPr lang="en-US" sz="1400" u="sng" dirty="0"/>
              <a:t>government effectiveness </a:t>
            </a:r>
            <a:r>
              <a:rPr lang="en-US" sz="1400" dirty="0"/>
              <a:t>and </a:t>
            </a:r>
            <a:r>
              <a:rPr lang="en-US" sz="1400" u="sng" dirty="0"/>
              <a:t>rule of law</a:t>
            </a:r>
            <a:r>
              <a:rPr lang="en-US" sz="1400" dirty="0"/>
              <a:t>. In the Top 30 happiest countries, the story shifts. Basic needs matter less because they are already met, and “higher-level” factors like </a:t>
            </a:r>
            <a:r>
              <a:rPr lang="en-US" sz="1400" u="sng" dirty="0"/>
              <a:t>voice and accountability </a:t>
            </a:r>
            <a:r>
              <a:rPr lang="en-US" sz="1400" dirty="0"/>
              <a:t>and </a:t>
            </a:r>
            <a:r>
              <a:rPr lang="en-US" sz="1400" u="sng" dirty="0"/>
              <a:t>corruption control </a:t>
            </a:r>
            <a:r>
              <a:rPr lang="en-US" sz="1400" dirty="0"/>
              <a:t>become stronger separators.</a:t>
            </a:r>
          </a:p>
          <a:p>
            <a:pPr marL="0" indent="0">
              <a:buNone/>
            </a:pPr>
            <a:r>
              <a:rPr lang="en-US" sz="1400" dirty="0"/>
              <a:t>For the Bottom 30, patterns become weak and noisy. This likely means the key drivers in these countries include missing variables such as conflict, insecurity, and political crises. Standard development indicators alone may not describe everyday reality well enough to predict happiness there.</a:t>
            </a:r>
          </a:p>
          <a:p>
            <a:pPr marL="0" indent="0">
              <a:buNone/>
            </a:pPr>
            <a:r>
              <a:rPr lang="en-US" sz="1400" dirty="0"/>
              <a:t>The ML results reinforce this complexity. Linear Regression failed (negative R²), which suggests happiness is not well captured by a simple linear formula. Random Forest performed strongly (R² = 0.70), </a:t>
            </a:r>
            <a:r>
              <a:rPr lang="en-US" sz="1400" b="1" dirty="0"/>
              <a:t>supporting the idea that happiness depends on non linear relationships and interactions between indicators.</a:t>
            </a:r>
          </a:p>
          <a:p>
            <a:pPr marL="0" indent="0">
              <a:buNone/>
            </a:pPr>
            <a:r>
              <a:rPr lang="en-US" sz="1400" dirty="0"/>
              <a:t>Overall, the findings support the main hypothesis directionally: once basic needs are satisfied, “soft” governance and rights factors play a bigger role. The next step is to formalize results and add variables that capture instability and safety more directly.</a:t>
            </a:r>
          </a:p>
          <a:p>
            <a:pPr marL="0" indent="0">
              <a:buNone/>
            </a:pPr>
            <a:endParaRPr lang="en-US" dirty="0"/>
          </a:p>
        </p:txBody>
      </p:sp>
    </p:spTree>
    <p:extLst>
      <p:ext uri="{BB962C8B-B14F-4D97-AF65-F5344CB8AC3E}">
        <p14:creationId xmlns:p14="http://schemas.microsoft.com/office/powerpoint/2010/main" val="2441683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2547</Words>
  <Application>Microsoft Office PowerPoint</Application>
  <PresentationFormat>Widescreen</PresentationFormat>
  <Paragraphs>84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DSA 210 Term Project World Bank Development Index &amp; Happiness</vt:lpstr>
      <vt:lpstr>Outline</vt:lpstr>
      <vt:lpstr>Introduction</vt:lpstr>
      <vt:lpstr>Data We Use</vt:lpstr>
      <vt:lpstr>Global Trends</vt:lpstr>
      <vt:lpstr>Top 30: When The Basic Needs Are Met</vt:lpstr>
      <vt:lpstr>PowerPoint Presentation</vt:lpstr>
      <vt:lpstr>The Bottom 30: A noisy Picture</vt:lpstr>
      <vt:lpstr>PowerPoint Presentation</vt:lpstr>
      <vt:lpstr>Interesting Anomalies</vt:lpstr>
      <vt:lpstr>Hypothesis</vt:lpstr>
      <vt:lpstr>Two ML Method Application</vt:lpstr>
      <vt:lpstr>Linear Regression</vt:lpstr>
      <vt:lpstr>Random forest</vt:lpstr>
      <vt:lpstr>Results</vt:lpstr>
      <vt:lpstr>Using Linear Regression And Random Forest Predictions on Hypothetical Country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Utku Genç</dc:creator>
  <cp:lastModifiedBy>Utku Genç</cp:lastModifiedBy>
  <cp:revision>2</cp:revision>
  <dcterms:created xsi:type="dcterms:W3CDTF">2025-12-28T12:58:38Z</dcterms:created>
  <dcterms:modified xsi:type="dcterms:W3CDTF">2026-01-01T14:33:34Z</dcterms:modified>
</cp:coreProperties>
</file>